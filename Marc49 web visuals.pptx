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73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A2B0-4C50-9EEF-1943-15B06181F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088DA-D068-3882-03E6-02198D0EC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95E27-9D48-11C1-21B0-00755A73C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1566-BE7E-7667-59A8-FBD771FF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7389A-69BC-0995-170F-1B103E59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592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39F5-3B8F-251A-E318-CFC276BD2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B0AC7-D747-EBFF-AC8B-43FE3122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DD745-4B4B-F3BB-FBF9-E37D2CF6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649F2-8499-FD6A-1B39-126C0284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ADCD4-87B9-47BB-C3D9-09F25C324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711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933B-B8B5-4810-A27D-3F24D5405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7E014-C529-5896-6E09-4236767B7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A327A-01A6-061C-2DCB-69034365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3E920-8B2C-724B-19A2-D48964CE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2A0A4-BE67-1C66-DAD8-ACB24CD73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358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E8D69-465B-7C3A-DC53-1F4FFBAF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CDE93-E667-4E14-3620-06747C6C2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FBEF8-C6DD-1406-CD0D-A89C9FA85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AD075-DFB5-C3DD-03E1-26D6D648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DB662-9B72-F040-D018-34170DAF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FB825-77F9-A339-7B61-EFE08455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870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FAC6-A6CA-AAF8-7049-F55B36FB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D129-9DCB-3D2E-66E9-C200F18CC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917FE-B3B8-872A-AB8C-D8F4B7EF9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A6107-3153-0B06-F05A-EE94C147C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2434C-E281-EC43-79B9-CDC587E9D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79749-47BE-4D5D-5C1F-B1D10A39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7DC389-59F4-78C4-58A4-3F15D7E1E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EAFBD-2044-7355-3694-8DA44824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1010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21DB3-1D14-8197-C3D3-E7B25CFD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6C5720-3B84-3D00-39E7-D200109AD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0AB5F-8EB4-2AAD-B30B-6B7CED69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A40B7-9BFC-327A-6EA8-BB480C2A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5980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2D7DC-F376-93CF-3569-41852DFF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4273A-DAAD-DE5B-AC6B-5DA41D13C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D5C43-E11C-0B78-5025-981D74B3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867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72F23-50E7-A854-B731-BAFD2164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8EB54-F7BA-93D8-2862-859012DDD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3FAAB-C7E9-E241-5BA6-8361776C3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8F087-E0C9-CCD2-5A56-CD33D0E0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95A7E-7DDF-5BB7-11D5-579756D6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BBF49-B31A-F609-2A9C-CDA20095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535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64AF-DE0F-195F-0149-779AA04D6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F36F7-5FD1-06E1-9A8E-35D7F527BC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5071C-682B-C85C-9A70-F6B5237E2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DA77D-0902-6B67-799F-192ADC5E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21DE1-B22F-AAE3-9AAB-BB3DE3EA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323DF-3A37-11B0-03C4-E9C2C053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7688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F4954-7D0D-9407-1F4D-6DFD1F0F0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0EAEF-BEFA-E30F-286E-392B9FACC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62AE9-F94D-ACC9-B258-2EF7686D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0B4F-C3EB-DFDD-D098-9DEA1A552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BF64D-75BF-7D9C-115D-D8F66F76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040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A3E848-53E3-E777-3561-D54CD0C0E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CBF76-45A3-5263-FDAB-D0517521A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2E8C0-C388-D6B4-5870-FDCC7DB53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41EB6-734B-2412-02BF-6A39998B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10608-055B-D86F-1035-3BD89A26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216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6674B-107A-8103-3217-EDC107A87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B65F1-4725-5DF0-12EA-1BA5CD7E6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F2ED5-CA77-0FCA-AFE5-D272C34A1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8A377-DDCE-4407-9ACB-CB6E5C8E267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3FD81-B3D6-2125-7FE5-E313049DA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24232-CF08-2AB1-7C89-639AF990F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33AD1-3CDD-4F91-ACB3-BD2F2D4410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84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">
            <a:extLst>
              <a:ext uri="{FF2B5EF4-FFF2-40B4-BE49-F238E27FC236}">
                <a16:creationId xmlns:a16="http://schemas.microsoft.com/office/drawing/2014/main" id="{A7DB18F8-7EE9-2432-9D2C-CBAE64ABD3BC}"/>
              </a:ext>
            </a:extLst>
          </p:cNvPr>
          <p:cNvSpPr>
            <a:spLocks noChangeAspect="1"/>
          </p:cNvSpPr>
          <p:nvPr/>
        </p:nvSpPr>
        <p:spPr>
          <a:xfrm>
            <a:off x="437395" y="674556"/>
            <a:ext cx="5587228" cy="3352337"/>
          </a:xfrm>
          <a:custGeom>
            <a:avLst/>
            <a:gdLst/>
            <a:ahLst/>
            <a:cxnLst/>
            <a:rect l="l" t="t" r="r" b="b"/>
            <a:pathLst>
              <a:path w="9494849" h="5696910">
                <a:moveTo>
                  <a:pt x="0" y="0"/>
                </a:moveTo>
                <a:lnTo>
                  <a:pt x="9494850" y="0"/>
                </a:lnTo>
                <a:lnTo>
                  <a:pt x="9494850" y="5696910"/>
                </a:lnTo>
                <a:lnTo>
                  <a:pt x="0" y="5696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8C5E2-8C3F-9631-8079-52A66669DFF7}"/>
              </a:ext>
            </a:extLst>
          </p:cNvPr>
          <p:cNvSpPr txBox="1"/>
          <p:nvPr/>
        </p:nvSpPr>
        <p:spPr>
          <a:xfrm>
            <a:off x="1839012" y="305224"/>
            <a:ext cx="347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Go-to-market optimization image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F592B63-3B21-A55B-A0A7-A79749570DE2}"/>
              </a:ext>
            </a:extLst>
          </p:cNvPr>
          <p:cNvSpPr/>
          <p:nvPr/>
        </p:nvSpPr>
        <p:spPr>
          <a:xfrm>
            <a:off x="7142402" y="5327355"/>
            <a:ext cx="429134" cy="429134"/>
          </a:xfrm>
          <a:custGeom>
            <a:avLst/>
            <a:gdLst/>
            <a:ahLst/>
            <a:cxnLst/>
            <a:rect l="l" t="t" r="r" b="b"/>
            <a:pathLst>
              <a:path w="429134" h="429134">
                <a:moveTo>
                  <a:pt x="0" y="0"/>
                </a:moveTo>
                <a:lnTo>
                  <a:pt x="429133" y="0"/>
                </a:lnTo>
                <a:lnTo>
                  <a:pt x="429133" y="429134"/>
                </a:lnTo>
                <a:lnTo>
                  <a:pt x="0" y="429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AE5B05-6698-53F1-3AB9-3BE73820FEB0}"/>
              </a:ext>
            </a:extLst>
          </p:cNvPr>
          <p:cNvSpPr txBox="1"/>
          <p:nvPr/>
        </p:nvSpPr>
        <p:spPr>
          <a:xfrm>
            <a:off x="2099008" y="5835781"/>
            <a:ext cx="2051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Market Access &amp; Strategy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C0855B-8238-3734-B3F7-9BEE1A107EAB}"/>
              </a:ext>
            </a:extLst>
          </p:cNvPr>
          <p:cNvSpPr txBox="1"/>
          <p:nvPr/>
        </p:nvSpPr>
        <p:spPr>
          <a:xfrm>
            <a:off x="4826350" y="4595881"/>
            <a:ext cx="2962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“What We Do” section icons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A54920-5F3E-C417-A7A2-43D6827866C9}"/>
              </a:ext>
            </a:extLst>
          </p:cNvPr>
          <p:cNvSpPr txBox="1"/>
          <p:nvPr/>
        </p:nvSpPr>
        <p:spPr>
          <a:xfrm>
            <a:off x="8121452" y="5835783"/>
            <a:ext cx="2051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Commercial Execution</a:t>
            </a:r>
          </a:p>
        </p:txBody>
      </p:sp>
      <p:pic>
        <p:nvPicPr>
          <p:cNvPr id="20" name="Graphic 19" descr="Bullseye with solid fill">
            <a:extLst>
              <a:ext uri="{FF2B5EF4-FFF2-40B4-BE49-F238E27FC236}">
                <a16:creationId xmlns:a16="http://schemas.microsoft.com/office/drawing/2014/main" id="{7FA8C13D-8580-7656-4370-898AD0AD41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4247" y="5191205"/>
            <a:ext cx="646332" cy="6463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96DE188-D96E-59F8-8ACA-4C4DE0A32A99}"/>
              </a:ext>
            </a:extLst>
          </p:cNvPr>
          <p:cNvSpPr txBox="1"/>
          <p:nvPr/>
        </p:nvSpPr>
        <p:spPr>
          <a:xfrm>
            <a:off x="6391008" y="5835782"/>
            <a:ext cx="2051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Compliance &amp; Logistics</a:t>
            </a:r>
          </a:p>
        </p:txBody>
      </p:sp>
      <p:pic>
        <p:nvPicPr>
          <p:cNvPr id="23" name="Graphic 22" descr="Playbook with solid fill">
            <a:extLst>
              <a:ext uri="{FF2B5EF4-FFF2-40B4-BE49-F238E27FC236}">
                <a16:creationId xmlns:a16="http://schemas.microsoft.com/office/drawing/2014/main" id="{70C48F75-9DC6-96B1-3A06-BF95A081C5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5205" y="5227829"/>
            <a:ext cx="591235" cy="591235"/>
          </a:xfrm>
          <a:prstGeom prst="rect">
            <a:avLst/>
          </a:prstGeom>
        </p:spPr>
      </p:pic>
      <p:pic>
        <p:nvPicPr>
          <p:cNvPr id="25" name="Graphic 24" descr="Business Growth with solid fill">
            <a:extLst>
              <a:ext uri="{FF2B5EF4-FFF2-40B4-BE49-F238E27FC236}">
                <a16:creationId xmlns:a16="http://schemas.microsoft.com/office/drawing/2014/main" id="{B500276D-56D1-B60E-E045-21193CFC85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8624" y="5286567"/>
            <a:ext cx="591236" cy="59123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E28CB25-B128-E3FF-F5D7-9A2291E7FF81}"/>
              </a:ext>
            </a:extLst>
          </p:cNvPr>
          <p:cNvSpPr txBox="1"/>
          <p:nvPr/>
        </p:nvSpPr>
        <p:spPr>
          <a:xfrm>
            <a:off x="3963475" y="5835780"/>
            <a:ext cx="2489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Partner &amp; Distributor Management</a:t>
            </a:r>
          </a:p>
        </p:txBody>
      </p:sp>
      <p:sp>
        <p:nvSpPr>
          <p:cNvPr id="2" name="Freeform 11">
            <a:extLst>
              <a:ext uri="{FF2B5EF4-FFF2-40B4-BE49-F238E27FC236}">
                <a16:creationId xmlns:a16="http://schemas.microsoft.com/office/drawing/2014/main" id="{1FAE53C1-1B17-F5C6-B3EE-52FC81E08100}"/>
              </a:ext>
            </a:extLst>
          </p:cNvPr>
          <p:cNvSpPr>
            <a:spLocks noChangeAspect="1"/>
          </p:cNvSpPr>
          <p:nvPr/>
        </p:nvSpPr>
        <p:spPr>
          <a:xfrm>
            <a:off x="7211620" y="410439"/>
            <a:ext cx="3810739" cy="4000776"/>
          </a:xfrm>
          <a:custGeom>
            <a:avLst/>
            <a:gdLst/>
            <a:ahLst/>
            <a:cxnLst/>
            <a:rect l="l" t="t" r="r" b="b"/>
            <a:pathLst>
              <a:path w="8021290" h="8421302">
                <a:moveTo>
                  <a:pt x="0" y="0"/>
                </a:moveTo>
                <a:lnTo>
                  <a:pt x="8021290" y="0"/>
                </a:lnTo>
                <a:lnTo>
                  <a:pt x="8021290" y="8421302"/>
                </a:lnTo>
                <a:lnTo>
                  <a:pt x="0" y="84213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C7E09-84CB-18C0-FDDE-0090E249B1EE}"/>
              </a:ext>
            </a:extLst>
          </p:cNvPr>
          <p:cNvSpPr txBox="1"/>
          <p:nvPr/>
        </p:nvSpPr>
        <p:spPr>
          <a:xfrm>
            <a:off x="7682459" y="95646"/>
            <a:ext cx="2562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Full Management image</a:t>
            </a:r>
          </a:p>
        </p:txBody>
      </p:sp>
    </p:spTree>
    <p:extLst>
      <p:ext uri="{BB962C8B-B14F-4D97-AF65-F5344CB8AC3E}">
        <p14:creationId xmlns:p14="http://schemas.microsoft.com/office/powerpoint/2010/main" val="3509023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Roger Artinoff</dc:creator>
  <cp:lastModifiedBy>Roger Artinoff</cp:lastModifiedBy>
  <cp:revision>3</cp:revision>
  <dcterms:created xsi:type="dcterms:W3CDTF">2026-02-20T01:15:19Z</dcterms:created>
  <dcterms:modified xsi:type="dcterms:W3CDTF">2026-02-20T03:28:30Z</dcterms:modified>
</cp:coreProperties>
</file>